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427706" y="6767674"/>
            <a:ext cx="13325516" cy="6662758"/>
          </a:xfrm>
          <a:custGeom>
            <a:avLst/>
            <a:gdLst/>
            <a:ahLst/>
            <a:cxnLst/>
            <a:rect r="r" b="b" t="t" l="l"/>
            <a:pathLst>
              <a:path h="6662758" w="13325516">
                <a:moveTo>
                  <a:pt x="13325516" y="0"/>
                </a:moveTo>
                <a:lnTo>
                  <a:pt x="0" y="0"/>
                </a:lnTo>
                <a:lnTo>
                  <a:pt x="0" y="6662758"/>
                </a:lnTo>
                <a:lnTo>
                  <a:pt x="13325516" y="6662758"/>
                </a:lnTo>
                <a:lnTo>
                  <a:pt x="13325516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79729" y="-2362421"/>
            <a:ext cx="4143375" cy="4143375"/>
          </a:xfrm>
          <a:custGeom>
            <a:avLst/>
            <a:gdLst/>
            <a:ahLst/>
            <a:cxnLst/>
            <a:rect r="r" b="b" t="t" l="l"/>
            <a:pathLst>
              <a:path h="4143375" w="4143375">
                <a:moveTo>
                  <a:pt x="0" y="0"/>
                </a:moveTo>
                <a:lnTo>
                  <a:pt x="4143375" y="0"/>
                </a:lnTo>
                <a:lnTo>
                  <a:pt x="4143375" y="4143375"/>
                </a:lnTo>
                <a:lnTo>
                  <a:pt x="0" y="414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88964" y="-1164935"/>
            <a:ext cx="8338078" cy="5549825"/>
          </a:xfrm>
          <a:custGeom>
            <a:avLst/>
            <a:gdLst/>
            <a:ahLst/>
            <a:cxnLst/>
            <a:rect r="r" b="b" t="t" l="l"/>
            <a:pathLst>
              <a:path h="5549825" w="8338078">
                <a:moveTo>
                  <a:pt x="0" y="0"/>
                </a:moveTo>
                <a:lnTo>
                  <a:pt x="8338078" y="0"/>
                </a:lnTo>
                <a:lnTo>
                  <a:pt x="8338078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80075" y="1657129"/>
            <a:ext cx="15679742" cy="464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7"/>
              </a:lnSpc>
            </a:pPr>
            <a:r>
              <a:rPr lang="en-US" b="true" sz="6597" spc="-3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Estimation &amp; characterisation of battery degradation using equivalent circuit modelling for Li -ion cylindrical cell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10524"/>
            <a:ext cx="502041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TEAM MEMBERS: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Shreya Jaiswal 21BEC1141</a:t>
            </a:r>
          </a:p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Blessy Abraham 21BEC1271</a:t>
            </a:r>
          </a:p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Tamanna 21BEC1644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92558" y="6710524"/>
            <a:ext cx="4552026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PROJECT GUIDE:</a:t>
            </a: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Florence Gnana Poovathy J 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643829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36728" y="-2479444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8"/>
                </a:lnTo>
                <a:lnTo>
                  <a:pt x="0" y="495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9429" y="3336286"/>
            <a:ext cx="12530232" cy="614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is Battery Degradation?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Over time, Li-ion batteries lose capacity due to continuous charge-discharge cycles.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it Matters? 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Battery health is critical for EVs, smartphones, renewable energy storage, etc.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Our Approach: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Use Machine Learning + Circuit Modeling to estimate battery degradation accurate.</a:t>
            </a:r>
          </a:p>
          <a:p>
            <a:pPr algn="just">
              <a:lnSpc>
                <a:spcPts val="40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2527"/>
            <a:ext cx="13430961" cy="229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9"/>
              </a:lnSpc>
            </a:pPr>
            <a:r>
              <a:rPr lang="en-US" sz="13364" spc="-654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71706" y="0"/>
            <a:ext cx="8034430" cy="10043037"/>
          </a:xfrm>
          <a:custGeom>
            <a:avLst/>
            <a:gdLst/>
            <a:ahLst/>
            <a:cxnLst/>
            <a:rect r="r" b="b" t="t" l="l"/>
            <a:pathLst>
              <a:path h="10043037" w="8034430">
                <a:moveTo>
                  <a:pt x="0" y="0"/>
                </a:moveTo>
                <a:lnTo>
                  <a:pt x="8034430" y="0"/>
                </a:lnTo>
                <a:lnTo>
                  <a:pt x="8034430" y="10043037"/>
                </a:lnTo>
                <a:lnTo>
                  <a:pt x="0" y="1004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99706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9615" y="1266330"/>
            <a:ext cx="16908385" cy="199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6"/>
              </a:lnSpc>
            </a:pPr>
            <a:r>
              <a:rPr lang="en-US" sz="11711" spc="-57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9615" y="3458210"/>
            <a:ext cx="11883888" cy="559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Problem: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Existing methods to monitor battery degradation are complex and expensive.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accurate estimation of State of Charge (SoC) and State of Health (SoH) is challenging.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Questions: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How can we estimate SoC and SoH efficiently using an equivalent circuit model?</a:t>
            </a: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Can we create a cost-effective and optimized algorithm?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0709" y="7689565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1"/>
                </a:lnTo>
                <a:lnTo>
                  <a:pt x="0" y="110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0709" y="1597290"/>
            <a:ext cx="5778818" cy="5778818"/>
          </a:xfrm>
          <a:custGeom>
            <a:avLst/>
            <a:gdLst/>
            <a:ahLst/>
            <a:cxnLst/>
            <a:rect r="r" b="b" t="t" l="l"/>
            <a:pathLst>
              <a:path h="5778818" w="5778818">
                <a:moveTo>
                  <a:pt x="0" y="0"/>
                </a:moveTo>
                <a:lnTo>
                  <a:pt x="5778818" y="0"/>
                </a:lnTo>
                <a:lnTo>
                  <a:pt x="5778818" y="5778818"/>
                </a:lnTo>
                <a:lnTo>
                  <a:pt x="0" y="577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49164" y="876300"/>
            <a:ext cx="10747450" cy="160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spc="-46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9745" y="2981728"/>
            <a:ext cx="11586288" cy="612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5254" indent="-342627" lvl="1">
              <a:lnSpc>
                <a:spcPts val="4443"/>
              </a:lnSpc>
              <a:buFont typeface="Arial"/>
              <a:buChar char="•"/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Accurately estimate battery SoC and SoH using Machine Learning.</a:t>
            </a:r>
          </a:p>
          <a:p>
            <a:pPr algn="just" marL="685254" indent="-342627" lvl="1">
              <a:lnSpc>
                <a:spcPts val="4443"/>
              </a:lnSpc>
              <a:buFont typeface="Arial"/>
              <a:buChar char="•"/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Characterize degradation behavior using Equivalent Circuit Modeling (ECM).</a:t>
            </a:r>
          </a:p>
          <a:p>
            <a:pPr algn="just" marL="685254" indent="-342627" lvl="1">
              <a:lnSpc>
                <a:spcPts val="4443"/>
              </a:lnSpc>
              <a:buFont typeface="Arial"/>
              <a:buChar char="•"/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Develop a hybrid algorithm combining:</a:t>
            </a:r>
          </a:p>
          <a:p>
            <a:pPr algn="just">
              <a:lnSpc>
                <a:spcPts val="4443"/>
              </a:lnSpc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</a:t>
            </a: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Machine Learning (Neural Networks)</a:t>
            </a:r>
          </a:p>
          <a:p>
            <a:pPr algn="just">
              <a:lnSpc>
                <a:spcPts val="4443"/>
              </a:lnSpc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Kalman Filter for real-time error correction</a:t>
            </a:r>
          </a:p>
          <a:p>
            <a:pPr algn="just">
              <a:lnSpc>
                <a:spcPts val="4443"/>
              </a:lnSpc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Genetic Algorithm for optimization</a:t>
            </a:r>
          </a:p>
          <a:p>
            <a:pPr algn="just" marL="685254" indent="-342627" lvl="1">
              <a:lnSpc>
                <a:spcPts val="4443"/>
              </a:lnSpc>
              <a:buFont typeface="Arial"/>
              <a:buChar char="•"/>
            </a:pPr>
            <a:r>
              <a:rPr lang="en-US" sz="317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Build a cost-effective Python-based system with minimal resource requirements.</a:t>
            </a:r>
          </a:p>
          <a:p>
            <a:pPr algn="just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7920" y="619756"/>
            <a:ext cx="10747450" cy="160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1"/>
              </a:lnSpc>
            </a:pPr>
            <a:r>
              <a:rPr lang="en-US" sz="9465" spc="-46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7920" y="2487659"/>
            <a:ext cx="15531380" cy="71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 Collection: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</a:t>
            </a: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 publicly available datasets (NASA Battery Data)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Machine Learning: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</a:t>
            </a: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Train a Neural Network to predict SoC and SoH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Kalman Filter Integration: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</a:t>
            </a: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correction of ML predictions using actual measurements.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Optimization: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 </a:t>
            </a: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Fine-tune the model using Genetic Algorithms.</a:t>
            </a:r>
          </a:p>
          <a:p>
            <a:pPr algn="just">
              <a:lnSpc>
                <a:spcPts val="4059"/>
              </a:lnSpc>
            </a:pPr>
          </a:p>
          <a:p>
            <a:pPr algn="just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14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Output:</a:t>
            </a:r>
          </a:p>
          <a:p>
            <a:pPr algn="just">
              <a:lnSpc>
                <a:spcPts val="4059"/>
              </a:lnSpc>
            </a:pP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   </a:t>
            </a:r>
            <a:r>
              <a:rPr lang="en-US" sz="2899" spc="-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Accurate SoC and SoH values with minimal error.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75370" y="0"/>
            <a:ext cx="7315200" cy="4114800"/>
          </a:xfrm>
          <a:custGeom>
            <a:avLst/>
            <a:gdLst/>
            <a:ahLst/>
            <a:cxnLst/>
            <a:rect r="r" b="b" t="t" l="l"/>
            <a:pathLst>
              <a:path h="4114800" w="7315200">
                <a:moveTo>
                  <a:pt x="0" y="0"/>
                </a:moveTo>
                <a:lnTo>
                  <a:pt x="7315200" y="0"/>
                </a:lnTo>
                <a:lnTo>
                  <a:pt x="7315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70165" y="5143500"/>
            <a:ext cx="7315200" cy="7315200"/>
          </a:xfrm>
          <a:custGeom>
            <a:avLst/>
            <a:gdLst/>
            <a:ahLst/>
            <a:cxnLst/>
            <a:rect r="r" b="b" t="t" l="l"/>
            <a:pathLst>
              <a:path h="7315200" w="7315200">
                <a:moveTo>
                  <a:pt x="0" y="0"/>
                </a:moveTo>
                <a:lnTo>
                  <a:pt x="7315200" y="0"/>
                </a:lnTo>
                <a:lnTo>
                  <a:pt x="73152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8176" y="1157980"/>
            <a:ext cx="8897221" cy="127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7506" spc="-36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Tools Required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8176" y="2828090"/>
            <a:ext cx="9504624" cy="705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6660" indent="-333330" lvl="1">
              <a:lnSpc>
                <a:spcPts val="4322"/>
              </a:lnSpc>
              <a:buFont typeface="Arial"/>
              <a:buChar char="•"/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Programming Language: Python</a:t>
            </a:r>
          </a:p>
          <a:p>
            <a:pPr algn="just">
              <a:lnSpc>
                <a:spcPts val="4322"/>
              </a:lnSpc>
            </a:pPr>
          </a:p>
          <a:p>
            <a:pPr algn="just" marL="666660" indent="-333330" lvl="1">
              <a:lnSpc>
                <a:spcPts val="4322"/>
              </a:lnSpc>
              <a:buFont typeface="Arial"/>
              <a:buChar char="•"/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IDE: Visual Studio Code</a:t>
            </a:r>
          </a:p>
          <a:p>
            <a:pPr algn="just">
              <a:lnSpc>
                <a:spcPts val="4322"/>
              </a:lnSpc>
            </a:pPr>
          </a:p>
          <a:p>
            <a:pPr algn="just" marL="666660" indent="-333330" lvl="1">
              <a:lnSpc>
                <a:spcPts val="4322"/>
              </a:lnSpc>
              <a:buFont typeface="Arial"/>
              <a:buChar char="•"/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Libraries:</a:t>
            </a:r>
          </a:p>
          <a:p>
            <a:pPr algn="just">
              <a:lnSpc>
                <a:spcPts val="4322"/>
              </a:lnSpc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TensorFlow/Keras (Machine Learning)</a:t>
            </a:r>
          </a:p>
          <a:p>
            <a:pPr algn="just">
              <a:lnSpc>
                <a:spcPts val="4322"/>
              </a:lnSpc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NumPy, Pandas (Data Handling)</a:t>
            </a:r>
          </a:p>
          <a:p>
            <a:pPr algn="just">
              <a:lnSpc>
                <a:spcPts val="4322"/>
              </a:lnSpc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Matplotlib (Visualization)</a:t>
            </a:r>
          </a:p>
          <a:p>
            <a:pPr algn="just">
              <a:lnSpc>
                <a:spcPts val="4322"/>
              </a:lnSpc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FilterPy (Kalman Filter)</a:t>
            </a:r>
          </a:p>
          <a:p>
            <a:pPr algn="just">
              <a:lnSpc>
                <a:spcPts val="4322"/>
              </a:lnSpc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DEAP/scipy.optimize (Genetic Algorithm)</a:t>
            </a:r>
          </a:p>
          <a:p>
            <a:pPr algn="just">
              <a:lnSpc>
                <a:spcPts val="4322"/>
              </a:lnSpc>
            </a:pPr>
          </a:p>
          <a:p>
            <a:pPr algn="just" marL="666660" indent="-333330" lvl="1">
              <a:lnSpc>
                <a:spcPts val="4322"/>
              </a:lnSpc>
              <a:buFont typeface="Arial"/>
              <a:buChar char="•"/>
            </a:pPr>
            <a:r>
              <a:rPr lang="en-US" sz="3087" spc="-1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Datasets: NASA Battery Dataset</a:t>
            </a:r>
          </a:p>
          <a:p>
            <a:pPr algn="just">
              <a:lnSpc>
                <a:spcPts val="432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99148" y="-343667"/>
            <a:ext cx="7404213" cy="5549825"/>
          </a:xfrm>
          <a:custGeom>
            <a:avLst/>
            <a:gdLst/>
            <a:ahLst/>
            <a:cxnLst/>
            <a:rect r="r" b="b" t="t" l="l"/>
            <a:pathLst>
              <a:path h="5549825" w="7404213">
                <a:moveTo>
                  <a:pt x="0" y="0"/>
                </a:moveTo>
                <a:lnTo>
                  <a:pt x="7404214" y="0"/>
                </a:lnTo>
                <a:lnTo>
                  <a:pt x="7404214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99148" y="2387906"/>
            <a:ext cx="11301259" cy="5636503"/>
          </a:xfrm>
          <a:custGeom>
            <a:avLst/>
            <a:gdLst/>
            <a:ahLst/>
            <a:cxnLst/>
            <a:rect r="r" b="b" t="t" l="l"/>
            <a:pathLst>
              <a:path h="5636503" w="11301259">
                <a:moveTo>
                  <a:pt x="0" y="0"/>
                </a:moveTo>
                <a:lnTo>
                  <a:pt x="11301259" y="0"/>
                </a:lnTo>
                <a:lnTo>
                  <a:pt x="11301259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0523" y="5561547"/>
            <a:ext cx="5749938" cy="5549825"/>
          </a:xfrm>
          <a:custGeom>
            <a:avLst/>
            <a:gdLst/>
            <a:ahLst/>
            <a:cxnLst/>
            <a:rect r="r" b="b" t="t" l="l"/>
            <a:pathLst>
              <a:path h="5549825" w="5749938">
                <a:moveTo>
                  <a:pt x="0" y="0"/>
                </a:moveTo>
                <a:lnTo>
                  <a:pt x="5749938" y="0"/>
                </a:lnTo>
                <a:lnTo>
                  <a:pt x="5749938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4871" y="962025"/>
            <a:ext cx="15253884" cy="863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42" indent="-408021" lvl="1">
              <a:lnSpc>
                <a:spcPts val="5291"/>
              </a:lnSpc>
              <a:buFont typeface="Arial"/>
              <a:buChar char="•"/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Impact of the Project:</a:t>
            </a:r>
          </a:p>
          <a:p>
            <a:pPr algn="ctr">
              <a:lnSpc>
                <a:spcPts val="5291"/>
              </a:lnSpc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Provides a cost-effective solution for accurate battery health             estimation.</a:t>
            </a:r>
          </a:p>
          <a:p>
            <a:pPr algn="ctr">
              <a:lnSpc>
                <a:spcPts val="5291"/>
              </a:lnSpc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Useful for industries like EV manufacturing, renewable energy, and consumer electronics.</a:t>
            </a:r>
          </a:p>
          <a:p>
            <a:pPr algn="just">
              <a:lnSpc>
                <a:spcPts val="5291"/>
              </a:lnSpc>
            </a:pPr>
          </a:p>
          <a:p>
            <a:pPr algn="just" marL="816042" indent="-408021" lvl="1">
              <a:lnSpc>
                <a:spcPts val="5291"/>
              </a:lnSpc>
              <a:buFont typeface="Arial"/>
              <a:buChar char="•"/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 Scope:</a:t>
            </a:r>
          </a:p>
          <a:p>
            <a:pPr algn="just">
              <a:lnSpc>
                <a:spcPts val="5291"/>
              </a:lnSpc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        Integration with IoT devices for real-time monitoring.</a:t>
            </a:r>
          </a:p>
          <a:p>
            <a:pPr algn="just">
              <a:lnSpc>
                <a:spcPts val="5291"/>
              </a:lnSpc>
            </a:pPr>
          </a:p>
          <a:p>
            <a:pPr algn="just" marL="816042" indent="-408021" lvl="1">
              <a:lnSpc>
                <a:spcPts val="5291"/>
              </a:lnSpc>
              <a:buFont typeface="Arial"/>
              <a:buChar char="•"/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End Goal:</a:t>
            </a:r>
          </a:p>
          <a:p>
            <a:pPr algn="ctr">
              <a:lnSpc>
                <a:spcPts val="5291"/>
              </a:lnSpc>
            </a:pPr>
            <a:r>
              <a:rPr lang="en-US" sz="3779" spc="-1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To deliver an optimized, lightweight hybrid model that is efficient and innovative.</a:t>
            </a:r>
          </a:p>
          <a:p>
            <a:pPr algn="just">
              <a:lnSpc>
                <a:spcPts val="529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831609" y="2312790"/>
            <a:ext cx="14223230" cy="7974210"/>
          </a:xfrm>
          <a:custGeom>
            <a:avLst/>
            <a:gdLst/>
            <a:ahLst/>
            <a:cxnLst/>
            <a:rect r="r" b="b" t="t" l="l"/>
            <a:pathLst>
              <a:path h="7974210" w="14223230">
                <a:moveTo>
                  <a:pt x="0" y="0"/>
                </a:moveTo>
                <a:lnTo>
                  <a:pt x="14223230" y="0"/>
                </a:lnTo>
                <a:lnTo>
                  <a:pt x="14223230" y="7974210"/>
                </a:lnTo>
                <a:lnTo>
                  <a:pt x="0" y="797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96" y="2117628"/>
            <a:ext cx="18228304" cy="584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4"/>
              </a:lnSpc>
            </a:pPr>
            <a:r>
              <a:rPr lang="en-US" sz="11117" spc="-5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"Innovating for a more sustainable and efficient future."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7933" y="1378676"/>
            <a:ext cx="7877899" cy="266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8"/>
              </a:lnSpc>
            </a:pPr>
            <a:r>
              <a:rPr lang="en-US" sz="15663" spc="-76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27933" y="2879866"/>
            <a:ext cx="7448908" cy="40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5"/>
              </a:lnSpc>
            </a:pPr>
            <a:r>
              <a:rPr lang="en-US" sz="23810" spc="-1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2115800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2387" y="6629400"/>
            <a:ext cx="7315200" cy="7315200"/>
          </a:xfrm>
          <a:custGeom>
            <a:avLst/>
            <a:gdLst/>
            <a:ahLst/>
            <a:cxnLst/>
            <a:rect r="r" b="b" t="t" l="l"/>
            <a:pathLst>
              <a:path h="7315200" w="7315200">
                <a:moveTo>
                  <a:pt x="0" y="0"/>
                </a:moveTo>
                <a:lnTo>
                  <a:pt x="7315200" y="0"/>
                </a:lnTo>
                <a:lnTo>
                  <a:pt x="73152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DAGZjAVqc3w</dc:identifier>
  <dcterms:modified xsi:type="dcterms:W3CDTF">2011-08-01T06:04:30Z</dcterms:modified>
  <cp:revision>1</cp:revision>
  <dc:title>Black Modern Geometric Technology Presentation</dc:title>
</cp:coreProperties>
</file>